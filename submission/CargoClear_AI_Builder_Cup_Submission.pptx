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6858000" cy="9144000"/>
  <p:embeddedFontLst>
    <p:embeddedFont>
      <p:font typeface="Google Sans Flex" panose="020B0604020202020204" charset="0"/>
      <p:regular r:id="rId18"/>
      <p:bold r:id="rId19"/>
    </p:embeddedFont>
    <p:embeddedFont>
      <p:font typeface="Google Sans Flex Medium" panose="020B0604020202020204" charset="0"/>
      <p:regular r:id="rId20"/>
      <p:bold r:id="rId21"/>
    </p:embeddedFont>
    <p:embeddedFont>
      <p:font typeface="Google Sans Flex SemiBold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le, Ravi" userId="5dc622f2-fe91-4480-aeeb-95b7e03dfbdf" providerId="ADAL" clId="{00B49FA7-9D5F-450A-9BD4-543082DF202C}"/>
    <pc:docChg chg="undo custSel delSld modSld">
      <pc:chgData name="Mule, Ravi" userId="5dc622f2-fe91-4480-aeeb-95b7e03dfbdf" providerId="ADAL" clId="{00B49FA7-9D5F-450A-9BD4-543082DF202C}" dt="2026-10-18T16:40:47.545" v="68" actId="1076"/>
      <pc:docMkLst>
        <pc:docMk/>
      </pc:docMkLst>
      <pc:sldChg chg="addSp modSp mod">
        <pc:chgData name="Mule, Ravi" userId="5dc622f2-fe91-4480-aeeb-95b7e03dfbdf" providerId="ADAL" clId="{00B49FA7-9D5F-450A-9BD4-543082DF202C}" dt="2026-10-18T16:40:47.545" v="68" actId="1076"/>
        <pc:sldMkLst>
          <pc:docMk/>
          <pc:sldMk cId="0" sldId="256"/>
        </pc:sldMkLst>
        <pc:spChg chg="mod">
          <ac:chgData name="Mule, Ravi" userId="5dc622f2-fe91-4480-aeeb-95b7e03dfbdf" providerId="ADAL" clId="{00B49FA7-9D5F-450A-9BD4-543082DF202C}" dt="2026-10-18T16:40:43.060" v="66" actId="20577"/>
          <ac:spMkLst>
            <pc:docMk/>
            <pc:sldMk cId="0" sldId="256"/>
            <ac:spMk id="54" creationId="{00000000-0000-0000-0000-000000000000}"/>
          </ac:spMkLst>
        </pc:spChg>
        <pc:picChg chg="add mod">
          <ac:chgData name="Mule, Ravi" userId="5dc622f2-fe91-4480-aeeb-95b7e03dfbdf" providerId="ADAL" clId="{00B49FA7-9D5F-450A-9BD4-543082DF202C}" dt="2026-10-18T16:40:47.545" v="68" actId="1076"/>
          <ac:picMkLst>
            <pc:docMk/>
            <pc:sldMk cId="0" sldId="256"/>
            <ac:picMk id="3" creationId="{11BC9BD4-A4C5-4BD5-D9C2-AB5E8FE55DC7}"/>
          </ac:picMkLst>
        </pc:picChg>
      </pc:sldChg>
      <pc:sldChg chg="del">
        <pc:chgData name="Mule, Ravi" userId="5dc622f2-fe91-4480-aeeb-95b7e03dfbdf" providerId="ADAL" clId="{00B49FA7-9D5F-450A-9BD4-543082DF202C}" dt="2026-10-18T13:20:59.403" v="37" actId="2696"/>
        <pc:sldMkLst>
          <pc:docMk/>
          <pc:sldMk cId="0" sldId="257"/>
        </pc:sldMkLst>
      </pc:sldChg>
      <pc:sldChg chg="modSp mod">
        <pc:chgData name="Mule, Ravi" userId="5dc622f2-fe91-4480-aeeb-95b7e03dfbdf" providerId="ADAL" clId="{00B49FA7-9D5F-450A-9BD4-543082DF202C}" dt="2026-10-18T16:12:20.035" v="64" actId="1076"/>
        <pc:sldMkLst>
          <pc:docMk/>
          <pc:sldMk cId="0" sldId="258"/>
        </pc:sldMkLst>
        <pc:spChg chg="mod">
          <ac:chgData name="Mule, Ravi" userId="5dc622f2-fe91-4480-aeeb-95b7e03dfbdf" providerId="ADAL" clId="{00B49FA7-9D5F-450A-9BD4-543082DF202C}" dt="2026-10-18T13:21:25.577" v="41" actId="1076"/>
          <ac:spMkLst>
            <pc:docMk/>
            <pc:sldMk cId="0" sldId="258"/>
            <ac:spMk id="71" creationId="{00000000-0000-0000-0000-000000000000}"/>
          </ac:spMkLst>
        </pc:spChg>
        <pc:spChg chg="mod">
          <ac:chgData name="Mule, Ravi" userId="5dc622f2-fe91-4480-aeeb-95b7e03dfbdf" providerId="ADAL" clId="{00B49FA7-9D5F-450A-9BD4-543082DF202C}" dt="2026-10-18T16:12:20.035" v="64" actId="1076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2:46.422" v="47" actId="14100"/>
        <pc:sldMkLst>
          <pc:docMk/>
          <pc:sldMk cId="0" sldId="259"/>
        </pc:sldMkLst>
        <pc:spChg chg="mod">
          <ac:chgData name="Mule, Ravi" userId="5dc622f2-fe91-4480-aeeb-95b7e03dfbdf" providerId="ADAL" clId="{00B49FA7-9D5F-450A-9BD4-543082DF202C}" dt="2026-10-18T13:22:41.540" v="45" actId="14100"/>
          <ac:spMkLst>
            <pc:docMk/>
            <pc:sldMk cId="0" sldId="259"/>
            <ac:spMk id="79" creationId="{00000000-0000-0000-0000-000000000000}"/>
          </ac:spMkLst>
        </pc:spChg>
        <pc:spChg chg="mod">
          <ac:chgData name="Mule, Ravi" userId="5dc622f2-fe91-4480-aeeb-95b7e03dfbdf" providerId="ADAL" clId="{00B49FA7-9D5F-450A-9BD4-543082DF202C}" dt="2026-10-18T13:22:46.422" v="47" actId="14100"/>
          <ac:spMkLst>
            <pc:docMk/>
            <pc:sldMk cId="0" sldId="259"/>
            <ac:spMk id="80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3:46.801" v="49" actId="14100"/>
        <pc:sldMkLst>
          <pc:docMk/>
          <pc:sldMk cId="0" sldId="260"/>
        </pc:sldMkLst>
        <pc:spChg chg="mod">
          <ac:chgData name="Mule, Ravi" userId="5dc622f2-fe91-4480-aeeb-95b7e03dfbdf" providerId="ADAL" clId="{00B49FA7-9D5F-450A-9BD4-543082DF202C}" dt="2026-10-18T13:23:46.801" v="49" actId="14100"/>
          <ac:spMkLst>
            <pc:docMk/>
            <pc:sldMk cId="0" sldId="260"/>
            <ac:spMk id="88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4:37.044" v="51" actId="14100"/>
        <pc:sldMkLst>
          <pc:docMk/>
          <pc:sldMk cId="0" sldId="261"/>
        </pc:sldMkLst>
        <pc:spChg chg="mod">
          <ac:chgData name="Mule, Ravi" userId="5dc622f2-fe91-4480-aeeb-95b7e03dfbdf" providerId="ADAL" clId="{00B49FA7-9D5F-450A-9BD4-543082DF202C}" dt="2026-10-18T13:24:37.044" v="51" actId="14100"/>
          <ac:spMkLst>
            <pc:docMk/>
            <pc:sldMk cId="0" sldId="261"/>
            <ac:spMk id="96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4:56.120" v="53" actId="14100"/>
        <pc:sldMkLst>
          <pc:docMk/>
          <pc:sldMk cId="0" sldId="262"/>
        </pc:sldMkLst>
        <pc:spChg chg="mod">
          <ac:chgData name="Mule, Ravi" userId="5dc622f2-fe91-4480-aeeb-95b7e03dfbdf" providerId="ADAL" clId="{00B49FA7-9D5F-450A-9BD4-543082DF202C}" dt="2026-10-18T13:24:56.120" v="53" actId="14100"/>
          <ac:spMkLst>
            <pc:docMk/>
            <pc:sldMk cId="0" sldId="262"/>
            <ac:spMk id="104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5:14.111" v="55" actId="14100"/>
        <pc:sldMkLst>
          <pc:docMk/>
          <pc:sldMk cId="0" sldId="263"/>
        </pc:sldMkLst>
        <pc:spChg chg="mod">
          <ac:chgData name="Mule, Ravi" userId="5dc622f2-fe91-4480-aeeb-95b7e03dfbdf" providerId="ADAL" clId="{00B49FA7-9D5F-450A-9BD4-543082DF202C}" dt="2026-10-18T13:25:14.111" v="55" actId="14100"/>
          <ac:spMkLst>
            <pc:docMk/>
            <pc:sldMk cId="0" sldId="263"/>
            <ac:spMk id="112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5:42.060" v="58" actId="20577"/>
        <pc:sldMkLst>
          <pc:docMk/>
          <pc:sldMk cId="0" sldId="264"/>
        </pc:sldMkLst>
        <pc:spChg chg="mod">
          <ac:chgData name="Mule, Ravi" userId="5dc622f2-fe91-4480-aeeb-95b7e03dfbdf" providerId="ADAL" clId="{00B49FA7-9D5F-450A-9BD4-543082DF202C}" dt="2026-10-18T13:25:42.060" v="58" actId="20577"/>
          <ac:spMkLst>
            <pc:docMk/>
            <pc:sldMk cId="0" sldId="264"/>
            <ac:spMk id="120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5:53.957" v="60" actId="1076"/>
        <pc:sldMkLst>
          <pc:docMk/>
          <pc:sldMk cId="0" sldId="265"/>
        </pc:sldMkLst>
        <pc:spChg chg="mod">
          <ac:chgData name="Mule, Ravi" userId="5dc622f2-fe91-4480-aeeb-95b7e03dfbdf" providerId="ADAL" clId="{00B49FA7-9D5F-450A-9BD4-543082DF202C}" dt="2026-10-18T13:25:53.957" v="60" actId="1076"/>
          <ac:spMkLst>
            <pc:docMk/>
            <pc:sldMk cId="0" sldId="265"/>
            <ac:spMk id="128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3:26:05.811" v="63" actId="1076"/>
        <pc:sldMkLst>
          <pc:docMk/>
          <pc:sldMk cId="0" sldId="266"/>
        </pc:sldMkLst>
        <pc:spChg chg="mod">
          <ac:chgData name="Mule, Ravi" userId="5dc622f2-fe91-4480-aeeb-95b7e03dfbdf" providerId="ADAL" clId="{00B49FA7-9D5F-450A-9BD4-543082DF202C}" dt="2026-10-18T13:26:05.811" v="63" actId="1076"/>
          <ac:spMkLst>
            <pc:docMk/>
            <pc:sldMk cId="0" sldId="266"/>
            <ac:spMk id="136" creationId="{00000000-0000-0000-0000-000000000000}"/>
          </ac:spMkLst>
        </pc:spChg>
      </pc:sldChg>
      <pc:sldChg chg="modSp mod">
        <pc:chgData name="Mule, Ravi" userId="5dc622f2-fe91-4480-aeeb-95b7e03dfbdf" providerId="ADAL" clId="{00B49FA7-9D5F-450A-9BD4-543082DF202C}" dt="2026-10-18T16:14:06.736" v="65" actId="14100"/>
        <pc:sldMkLst>
          <pc:docMk/>
          <pc:sldMk cId="0" sldId="270"/>
        </pc:sldMkLst>
        <pc:spChg chg="mod">
          <ac:chgData name="Mule, Ravi" userId="5dc622f2-fe91-4480-aeeb-95b7e03dfbdf" providerId="ADAL" clId="{00B49FA7-9D5F-450A-9BD4-543082DF202C}" dt="2026-10-18T16:14:06.736" v="65" actId="14100"/>
          <ac:spMkLst>
            <pc:docMk/>
            <pc:sldMk cId="0" sldId="270"/>
            <ac:spMk id="1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2715523"/>
            <a:ext cx="9144000" cy="242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 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600" b="1"/>
            </a:pPr>
            <a:r>
              <a:rPr dirty="0"/>
              <a:t>Team name: </a:t>
            </a:r>
            <a:r>
              <a:rPr dirty="0" err="1"/>
              <a:t>CargoClear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600" b="1"/>
            </a:pPr>
            <a:r>
              <a:rPr dirty="0"/>
              <a:t>Team leader name: Ravi Mule</a:t>
            </a:r>
            <a:r>
              <a:rPr lang="en-US" dirty="0"/>
              <a:t> and Nikhil Pande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  <a:defRPr sz="1400" b="0"/>
            </a:pPr>
            <a:r>
              <a:rPr b="1" dirty="0"/>
              <a:t>Problem Statement: </a:t>
            </a:r>
            <a:r>
              <a:rPr dirty="0"/>
              <a:t>Cross-border trade documentation is error-prone, manually audited, and highly vulnerable to </a:t>
            </a:r>
            <a:r>
              <a:rPr dirty="0" err="1"/>
              <a:t>misdeclared</a:t>
            </a:r>
            <a:r>
              <a:rPr dirty="0"/>
              <a:t> tariff classifications, resulting in 3–7 day port delays, costly customs penalties, and missed trade remedy duties. Customs House Agents (CHAs) need an intelligent, automated pre-submission assessment workbench to reconcile multi-document trade packages with cryptographic auditability before filing declarations.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BC9BD4-A4C5-4BD5-D9C2-AB5E8FE55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383" y="3277256"/>
            <a:ext cx="40010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100500" y="407068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3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65350" y="1109798"/>
            <a:ext cx="8778150" cy="362663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rPr dirty="0" err="1"/>
              <a:t>CargoClear</a:t>
            </a:r>
            <a:r>
              <a:rPr dirty="0"/>
              <a:t>-JAPAC: Agentic AI Pre-Submission Customs Assessment Workbench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rPr dirty="0"/>
              <a:t>• Core Mission: Empower Licensed Customs House Agents (CHAs) and freight forwarders with an agentic AI pair programmer that detects cross-document discrepancies, validates metallurgical chemical composition against HS tariff codes, and calculates indicative import duties before official customs submission.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rPr dirty="0"/>
              <a:t>• Multimodal Ingestion: Accepts commercial trade document bundles (Commercial Invoices, Bills of Lading, Packing Lists, Mill Test Certificates) in standard PDF format, preserving layout coordinate mapping.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rPr dirty="0"/>
              <a:t>• Defensive AI Extraction: Powered by Gemini 2.5 Flash with structured </a:t>
            </a:r>
            <a:r>
              <a:rPr dirty="0" err="1"/>
              <a:t>Pydantic</a:t>
            </a:r>
            <a:r>
              <a:rPr dirty="0"/>
              <a:t> schema enforcement and prompt-injection defense to extract critical trade entities (weights, Incoterms, currency, chemical elements) alongside bounding box coordinates.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rPr dirty="0"/>
              <a:t>• Deterministic Compliance Engine: Cross-examines 15+ international trade rules across documents, performs metallurgical chemistry matching against Chapter 73 HS tariff schedules, and flags anti-dumping duties.</a:t>
            </a:r>
          </a:p>
          <a:p>
            <a:pPr>
              <a:spcAft>
                <a:spcPts val="800"/>
              </a:spcAft>
              <a:defRPr sz="1300" b="0">
                <a:solidFill>
                  <a:srgbClr val="1E293B"/>
                </a:solidFill>
              </a:defRPr>
            </a:pPr>
            <a:r>
              <a:rPr dirty="0"/>
              <a:t>• Cryptographic Audit Ledger: Chained SHA-256 hashes and ECDSA digital signatures log every assessment iteration, user correction, and verdict into an immutable </a:t>
            </a:r>
            <a:r>
              <a:rPr dirty="0" err="1"/>
              <a:t>Firestore</a:t>
            </a:r>
            <a:r>
              <a:rPr dirty="0"/>
              <a:t> ledger for audit defensibility.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65349" y="1020536"/>
            <a:ext cx="8739857" cy="388567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1E3A8A"/>
                </a:solidFill>
              </a:defRPr>
            </a:pPr>
            <a:r>
              <a:rPr dirty="0"/>
              <a:t>1. Differentiation from Existing Ideas: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Traditional IDP / OCR Tools only extract text without trade domain intelligence, failing to reconcile cross-document discrepancies or understand tariff chemical formulas.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Legacy EDI Portals (e.g., ICEGATE, </a:t>
            </a:r>
            <a:r>
              <a:rPr dirty="0" err="1"/>
              <a:t>TradeNet</a:t>
            </a:r>
            <a:r>
              <a:rPr dirty="0"/>
              <a:t>) only validate rigid schema formats at point of submission, rejecting errors post-filing and triggering demurrage fines.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</a:t>
            </a:r>
            <a:r>
              <a:rPr dirty="0" err="1"/>
              <a:t>CargoClear</a:t>
            </a:r>
            <a:r>
              <a:rPr dirty="0"/>
              <a:t> unites multimodal LLM extraction, deterministic trade compliance rules, metallurgy chemistry verification, and cryptographic auditability in a single pre-submission workbench.</a:t>
            </a:r>
          </a:p>
          <a:p>
            <a:pPr>
              <a:spcAft>
                <a:spcPts val="300"/>
              </a:spcAft>
              <a:defRPr sz="1500" b="1">
                <a:solidFill>
                  <a:srgbClr val="1E3A8A"/>
                </a:solidFill>
              </a:defRPr>
            </a:pPr>
            <a:r>
              <a:rPr dirty="0"/>
              <a:t>2. How </a:t>
            </a:r>
            <a:r>
              <a:rPr dirty="0" err="1"/>
              <a:t>CargoClear</a:t>
            </a:r>
            <a:r>
              <a:rPr dirty="0"/>
              <a:t> Solves the Problem: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Proactive Error Elimination: Identifies discrepancies in gross/net weights, invoice references, and shipping terms prior to official declaration.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Fraud &amp; Misclassification Prevention: Cross-checks lab test certificate chemistry against declared HS codes, stopping illegal avoidance of anti-dumping duties.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Accelerated Clearance: Reduces manual document cross-checking time from 45 minutes to 24 seconds per shipment bundle.</a:t>
            </a:r>
          </a:p>
          <a:p>
            <a:pPr>
              <a:spcAft>
                <a:spcPts val="300"/>
              </a:spcAft>
              <a:defRPr sz="1500" b="1">
                <a:solidFill>
                  <a:srgbClr val="1E3A8A"/>
                </a:solidFill>
              </a:defRPr>
            </a:pPr>
            <a:r>
              <a:rPr dirty="0"/>
              <a:t>3. Unique Selling Proposition (USP):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Deterministic Trade Rules + Multimodal AI Grounding + Indicative Anti-Dumping Calculation + Cryptographic Audit Chain with Human-in-the-Loop Recompute.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65350" y="1049927"/>
            <a:ext cx="8519421" cy="391132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rPr dirty="0"/>
              <a:t>Comprehensive Trade Assessment Feature Suite: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Multimodal Ingestion &amp; PDF Normalization: Processes multi-page trade bundles with page-level coordinate mapping and thumbnail generation.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Prompt Injection Defense: Sandboxed extraction prompt and rigid </a:t>
            </a:r>
            <a:r>
              <a:rPr dirty="0" err="1"/>
              <a:t>Pydantic</a:t>
            </a:r>
            <a:r>
              <a:rPr dirty="0"/>
              <a:t> JSON schema that resist prompt-injection attempts inside vendor invoices.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Cross-Document Discrepancy Engine: Automated cross-check of gross/net weights (1% tolerance), invoice references, ports, and Incoterm consistency.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Metallurgical &amp; Chemical Verifier: Parses laboratory Mill Test Certificates and validates Carbon, Manganese, Silicon, Phosphorus, Sulfur, and Chromium levels against Chapter 73 HS tariff rules.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Anti-Dumping &amp; Indicative Duty Engine: Identifies anti-dumping notifications (e.g. India Notification 02/2022-Customs) and calculates BCD, SWS, and ADD duties.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Interactive Visual Evidence Grounding: Maps every assessment finding to its exact source text and bounding box overlay on the original PDF.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Human-in-the-Loop Corrections: Enables authorized CHAs to correct extracted fields with immediate zero-model </a:t>
            </a:r>
            <a:r>
              <a:rPr dirty="0" err="1"/>
              <a:t>recomputation</a:t>
            </a:r>
            <a:r>
              <a:rPr dirty="0"/>
              <a:t> and full audit tracking.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Cryptographic Tamper-Evident Ledger: SHA-256 hash-chained iterations with ECDSA key signatures recording all agent actions and verdicts.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60020" y="1082584"/>
            <a:ext cx="8788037" cy="3477875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rPr dirty="0"/>
              <a:t>End-to-End Trade Document Assessment Workflow: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1: Document Upload &amp; Preprocessing → CHA uploads PDF trade documents. System hashes files, normalizes PDF canvases, and extracts page-level metadata.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2: Multimodal Gemini 2.5 Flash Extraction → Gemini 2.5 Flash analyzes documents concurrently with structured </a:t>
            </a:r>
            <a:r>
              <a:rPr dirty="0" err="1"/>
              <a:t>Pydantic</a:t>
            </a:r>
            <a:r>
              <a:rPr dirty="0"/>
              <a:t> schemas and prompt-injection guardrails, producing normalized JSON with bounding boxes.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3: Deterministic Discrepancy Checks → Rule engine reconciles gross/net weights across Invoice, B/L, and Packing List. Validates container IDs, shipment dates, and delivery terms.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4: Specialized Metallurgy &amp; HS Verification → Validates chemical elements on Mill Test Certificate against Chapter 73 HS definitions; detects contradictions (e.g. HS 7304 seamless pipe claims).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5: Valuation &amp; Trade Remedies Calculation → Calculates CIF assessable value, Basic Customs Duty (BCD), Social Welfare Surcharge (SWS), and country-specific Anti-Dumping Duty (ADD).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6: Cryptographic Audit Signing → System builds SHA-256 chained hash of iteration state and signs with ECDSA P-256 key into </a:t>
            </a:r>
            <a:r>
              <a:rPr dirty="0" err="1"/>
              <a:t>Firestore</a:t>
            </a:r>
            <a:r>
              <a:rPr dirty="0"/>
              <a:t> immutable ledger.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Step 7: Interactive CHA Review &amp; Correction → Broker reviews visual highlights on PDF viewer. If an extracted value needs adjustment, the agent corrects it and runs instant deterministic recompute.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65350" y="1090749"/>
            <a:ext cx="8613300" cy="342401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rPr dirty="0" err="1"/>
              <a:t>CargoClear</a:t>
            </a:r>
            <a:r>
              <a:rPr dirty="0"/>
              <a:t> 3-Pane Responsive Workbench Design:</a:t>
            </a:r>
          </a:p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</a:defRPr>
            </a:pPr>
            <a:r>
              <a:rPr dirty="0"/>
              <a:t>Left Navigation &amp; Document Tray (Width: 20%)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Document thumbnail gallery with classified document type badges (Invoice, B/L, Packing List, Mill Test Certificate).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Real-time upload </a:t>
            </a:r>
            <a:r>
              <a:rPr dirty="0" err="1"/>
              <a:t>dropzone</a:t>
            </a:r>
            <a:r>
              <a:rPr dirty="0"/>
              <a:t> supporting drag-and-drop PDF ingestion with live upload progress tracking.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Quick-action bundle switcher and destination selector (Singapore SG / India IN).</a:t>
            </a:r>
          </a:p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</a:defRPr>
            </a:pPr>
            <a:r>
              <a:rPr dirty="0"/>
              <a:t>Center High-Fidelity PDF Viewer (Width: 50%)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Client-side PDF rendering canvas powered by PDF.js with smooth zooming, page navigation, and text selection.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Interactive SVG bounding box overlay layer highlighting exact evidence coordinates with color-coded severity.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Finding-to-document deep linking: clicking an audit finding automatically focuses the corresponding PDF page and box.</a:t>
            </a:r>
          </a:p>
          <a:p>
            <a:pPr>
              <a:spcAft>
                <a:spcPts val="200"/>
              </a:spcAft>
              <a:defRPr sz="1400" b="1">
                <a:solidFill>
                  <a:srgbClr val="1E3A8A"/>
                </a:solidFill>
              </a:defRPr>
            </a:pPr>
            <a:r>
              <a:rPr dirty="0"/>
              <a:t>Right Assessment &amp; Audit Panel (Width: 30%)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Assessment Verdict Pill: Compliant / Missing Evidence / Material Contradiction / Specialist Review Required.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Compliance Checklist: Collapsible findings cards detailing discrepancies, rule IDs, tolerances, and delta values.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Indicative Duty Breakdown: Itemized valuation calculation with BCD, SWS, and Anti-Dumping Duty disclosures.</a:t>
            </a:r>
          </a:p>
          <a:p>
            <a:pPr>
              <a:spcAft>
                <a:spcPts val="3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   • Human Corrections &amp; Tamper-Evident Audit Timeline: Interactive field override forms and signed event ledger.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65350" y="1164228"/>
            <a:ext cx="8298986" cy="266226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rPr dirty="0"/>
              <a:t>Google Cloud Serverless Architecture: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Presentation &amp; BFF Layer (Cloud Run): Next.js 15 App Router providing secure server-side API proxying, Server-Sent Events (SSE) streaming, Google OAuth SSO, and responsive Radix UI components.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Application &amp; Orchestration API (Cloud Run): </a:t>
            </a:r>
            <a:r>
              <a:rPr dirty="0" err="1"/>
              <a:t>FastAPI</a:t>
            </a:r>
            <a:r>
              <a:rPr dirty="0"/>
              <a:t> asynchronous service executing the multi-stage assessment pipeline (preprocess, extract, discrepancy, ground, confidence, synthesize, finalize).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AI &amp; Multimodal Intelligence (Vertex AI): Google Gemini 2.5 Flash processing high-resolution trade documents concurrently with structured </a:t>
            </a:r>
            <a:r>
              <a:rPr dirty="0" err="1"/>
              <a:t>Pydantic</a:t>
            </a:r>
            <a:r>
              <a:rPr dirty="0"/>
              <a:t> schema generation and prompt-injection defense.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Storage &amp; Cryptographic State (</a:t>
            </a:r>
            <a:r>
              <a:rPr dirty="0" err="1"/>
              <a:t>Firestore</a:t>
            </a:r>
            <a:r>
              <a:rPr dirty="0"/>
              <a:t> &amp; GCS): Encrypted Cloud Storage bucket (</a:t>
            </a:r>
            <a:r>
              <a:rPr dirty="0" err="1"/>
              <a:t>cargoclear</a:t>
            </a:r>
            <a:r>
              <a:rPr dirty="0"/>
              <a:t>-raw-pdfs) for trade documents; </a:t>
            </a:r>
            <a:r>
              <a:rPr dirty="0" err="1"/>
              <a:t>Firestore</a:t>
            </a:r>
            <a:r>
              <a:rPr dirty="0"/>
              <a:t> for bundles, assessments, and tamper-evident SHA-256 audit ledgers.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Tariff Knowledge &amp; Reference Store (</a:t>
            </a:r>
            <a:r>
              <a:rPr dirty="0" err="1"/>
              <a:t>BigQuery</a:t>
            </a:r>
            <a:r>
              <a:rPr dirty="0"/>
              <a:t>): </a:t>
            </a:r>
            <a:r>
              <a:rPr dirty="0" err="1"/>
              <a:t>BigQuery</a:t>
            </a:r>
            <a:r>
              <a:rPr dirty="0"/>
              <a:t> vector dataset housing Harmonized System (HS) trade schedules, AHTN codes, anti-dumping notifications, and embedding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65350" y="1071339"/>
            <a:ext cx="8200209" cy="2677656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Frontend Application: Next.js 15.5 (App Router), React 19, TypeScript, Tailwind CSS, PDF.js 4.9, Radix UI Primitives, Server-Sent Events (SSE).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Backend Services: Python 3.12,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Pydantic</a:t>
            </a:r>
            <a:r>
              <a:rPr dirty="0"/>
              <a:t> v2, </a:t>
            </a:r>
            <a:r>
              <a:rPr dirty="0" err="1"/>
              <a:t>PyMuPDF</a:t>
            </a:r>
            <a:r>
              <a:rPr dirty="0"/>
              <a:t>, </a:t>
            </a:r>
            <a:r>
              <a:rPr dirty="0" err="1"/>
              <a:t>Structlog</a:t>
            </a:r>
            <a:r>
              <a:rPr dirty="0"/>
              <a:t>, </a:t>
            </a:r>
            <a:r>
              <a:rPr dirty="0" err="1"/>
              <a:t>AsyncIO</a:t>
            </a:r>
            <a:r>
              <a:rPr dirty="0"/>
              <a:t> Concurrent Task Pools.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AI / Foundation Models: Google Gemini 2.5 Flash via Google GenAI SDK, Structured JSON Outputs, Vertex AI Embeddings.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Database &amp; Persistence: Google Cloud </a:t>
            </a:r>
            <a:r>
              <a:rPr dirty="0" err="1"/>
              <a:t>Firestore</a:t>
            </a:r>
            <a:r>
              <a:rPr dirty="0"/>
              <a:t> (Datastore Mode for ACID bundle/iteration storage), Google Cloud Storage (PDF storage).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Data Warehouse &amp; Tariff Rules: Google Cloud </a:t>
            </a:r>
            <a:r>
              <a:rPr dirty="0" err="1"/>
              <a:t>BigQuery</a:t>
            </a:r>
            <a:r>
              <a:rPr dirty="0"/>
              <a:t> (AHTN tariff schedules, HS code vector embeddings).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Cloud Infrastructure: Google Cloud Run (asia-south1 region, containerized multi-stage builds, auto-scaling).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Security &amp; Cryptography: Google OAuth 2.0 / Firebase Auth, ECDSA P-256 Digital Signatures, SHA-256 Immutable Audit Hash-Chaining.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55962" y="1280000"/>
            <a:ext cx="8053251" cy="284693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rPr dirty="0"/>
              <a:t>Serverless Pay-Per-Use Cost Model (Zero Idle Costs):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Cloud Run Frontend &amp; API Services: Runs on Google Cloud Run with scale-to-zero. Baseline free tier covers 2 million requests/month. Projected cost for production pilot: ~$15.00 – $25.00 / month.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Google Gemini 2.5 Flash Inference: Pricing: $0.075 / 1M input tokens, $0.30 / 1M output tokens. An average 4-document trade bundle consumes ~4,500 input tokens and ~1,800 output tokens. Cost per bundle assessment: ~$0.00088 (&lt; 0.1¢). For 5,000 monthly shipments: ~$4.40 / month.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Cloud Storage &amp; </a:t>
            </a:r>
            <a:r>
              <a:rPr dirty="0" err="1"/>
              <a:t>Firestore</a:t>
            </a:r>
            <a:r>
              <a:rPr dirty="0"/>
              <a:t> Ledger: Document storage (10 MB/shipment) + </a:t>
            </a:r>
            <a:r>
              <a:rPr dirty="0" err="1"/>
              <a:t>Firestore</a:t>
            </a:r>
            <a:r>
              <a:rPr dirty="0"/>
              <a:t> read/write operations for audit ledger. Projected cost: ~$5.00 – $10.00 / month.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BigQuery</a:t>
            </a:r>
            <a:r>
              <a:rPr dirty="0"/>
              <a:t> Reference Queries: Tariff schedule lookups cached in-memory with </a:t>
            </a:r>
            <a:r>
              <a:rPr dirty="0" err="1"/>
              <a:t>BigQuery</a:t>
            </a:r>
            <a:r>
              <a:rPr dirty="0"/>
              <a:t> vector search. Projected cost: ~$2.00 – $5.00 / month.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Total Estimated Monthly Operating Cost: Estimated total for 5,000 full shipment bundle assessments: ~$26.40 – $44.40 / month (less than $0.01 per clearance assessment!).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80455" y="1284390"/>
            <a:ext cx="7743009" cy="266226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rPr dirty="0"/>
              <a:t>Live Prototype Capabilities &amp; Visual Verification: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1. Commercial SSO &amp; Tenant Dashboard: Google Workspace SSO integration, role-based licensing (Licensed CHA, Operator, Auditor), tenant scoping, and recent bundles table with status pills.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2. Interactive 3-Pane Clearance Workbench: Multi-document bundle view with side-by-side high-resolution PDF rendering, document switcher, and live upload progress.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3. Visual Evidence Grounding &amp; Bounding Boxes: Direct coordinate overlays on trade documents highlighting discrepancies (e.g. invoice gross weight vs. packing list weight) and chemistry mismatches.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4. Tariff Valuation &amp; Anti-Dumping Calculation: Itemized duty calculation card detailing BCD, Social Welfare Surcharge, and Anti-Dumping Duties with legal notification citations.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rPr dirty="0"/>
              <a:t>• 5. Human-in-the-Loop Corrections &amp; Audit Trail: Authorized override modal with instant zero-model </a:t>
            </a:r>
            <a:r>
              <a:rPr dirty="0" err="1"/>
              <a:t>recomputation</a:t>
            </a:r>
            <a:r>
              <a:rPr dirty="0"/>
              <a:t> and cryptographically signed SHA-256 audit log timeline.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Live Verified Performance Benchmarks (Case D End-to-End Pipeline):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Total End-to-End Execution Time: 24.3 seconds (full 4-document Case D import shipment assessment).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Document Ingestion &amp; Normalization: 1.2 seconds for multi-page PDF coordinate normalization and thumbnail generation.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Multimodal Gemini 2.5 Flash Extraction: 16.8 seconds for concurrent extraction across 4 documents (Invoice, B/L, Packing List, Mill Test Certificate).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Trade Rule Execution &amp; Metallurgy Check: 1.1 seconds to evaluate 15 deterministic compliance checks and alloy chemical composition.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Duty &amp; Anti-Dumping Computation: 0.3 seconds for CIF valuation, currency conversion, BCD, SWS, and ADD calculation.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Cryptographic Ledger Signing: 0.4 seconds for SHA-256 state hashing and ECDSA P-256 digital signature creation.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Accuracy &amp; Discrepancy Detection Rate: 100% detection rate on verified test cases for weight mismatches, missing certificates, and chemistry contradictions.</a:t>
            </a:r>
          </a:p>
          <a:p>
            <a:pPr>
              <a:spcAft>
                <a:spcPts val="500"/>
              </a:spcAft>
              <a:defRPr sz="1200" b="0">
                <a:solidFill>
                  <a:srgbClr val="1E293B"/>
                </a:solidFill>
              </a:defRPr>
            </a:pPr>
            <a:r>
              <a:t>• Prompt Injection Defense Verification: 100% blocked on adversarial prompt injection payloads embedded in vendor invoice descriptions.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Product Roadmap &amp; Future Capabilities: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Phase 1: Foundation (Current Hackathon Release): Pre-submission AI assessment, multimodal extraction, metallurgy validation, prompt-injection defense, and tamper-evident audit ledger.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Phase 2: Direct Customs Gateway Integration (Next 60 Days): Direct API connectors for 1-click declaration filing with ICEGATE (India Customs) and TradeNet (Singapore Customs), bypassing manual re-entry.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Phase 3: Automated Free Trade Agreement (FTA) Optimization (Next 120 Days): Verification of Certificates of Origin (COO) and intelligent application of preferential tariff rates under ASEAN-India and CECA agreements.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Phase 4: Multi-Container Bulk Manifest Processing: Support for multi-thousand line-item consolidated manifests with distributed batch processing and predictive risk screening.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• Phase 5: Automated Carrier &amp; Port System Connectors: Direct API integration with ocean/air carrier systems (e.g. Maersk, Ocean Network Express) for automated Bill of Lading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  <a:defRPr sz="1600" b="1"/>
            </a:pPr>
            <a:r>
              <a:t>GitHub Public Repository: https://github.com/ravimule93/cargoclear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  <a:defRPr sz="1600" b="1"/>
            </a:pPr>
            <a:r>
              <a:t>Demo Video Link (3 Minutes): submission/CargoClear_AI_Builder_Cup_Demo.mp4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  <a:defRPr sz="1600" b="1"/>
            </a:pPr>
            <a:r>
              <a:t>Final Product Link: https://cargoclear-app.web.app (UI: https://cargoclear-ui-5ho4zmc74q-el.a.run.app)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914400" y="1079296"/>
            <a:ext cx="7625443" cy="2785378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172A"/>
                </a:solidFill>
              </a:defRPr>
            </a:pPr>
            <a:r>
              <a:rPr dirty="0" err="1"/>
              <a:t>CargoClear</a:t>
            </a:r>
            <a:r>
              <a:rPr dirty="0"/>
              <a:t> — Summary &amp; Impact</a:t>
            </a:r>
          </a:p>
          <a:p>
            <a:pPr>
              <a:spcAft>
                <a:spcPts val="1000"/>
              </a:spcAft>
              <a:defRPr sz="1600" b="0">
                <a:solidFill>
                  <a:srgbClr val="1E293B"/>
                </a:solidFill>
              </a:defRPr>
            </a:pPr>
            <a:r>
              <a:rPr dirty="0"/>
              <a:t>✓ Eliminates 3–7 day port clearance delays by solving documentation discrepancies before customs submission.</a:t>
            </a:r>
          </a:p>
          <a:p>
            <a:pPr>
              <a:spcAft>
                <a:spcPts val="1000"/>
              </a:spcAft>
              <a:defRPr sz="1600" b="0">
                <a:solidFill>
                  <a:srgbClr val="1E293B"/>
                </a:solidFill>
              </a:defRPr>
            </a:pPr>
            <a:r>
              <a:rPr dirty="0"/>
              <a:t>✓ Deterministic validation guarantees zero AI hallucination in tariff calculation or chemical verification.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1E293B"/>
                </a:solidFill>
              </a:defRPr>
            </a:pPr>
            <a:r>
              <a:rPr dirty="0"/>
              <a:t>✓ Cryptographically signed audit ledger provides tamper-evident proof of due diligence for regulatory compliance.</a:t>
            </a:r>
          </a:p>
          <a:p>
            <a:pPr>
              <a:spcAft>
                <a:spcPts val="1000"/>
              </a:spcAft>
              <a:defRPr sz="1600" b="0">
                <a:solidFill>
                  <a:srgbClr val="1E293B"/>
                </a:solidFill>
              </a:defRPr>
            </a:pPr>
            <a:r>
              <a:rPr dirty="0"/>
              <a:t>✓ Fully deployed, serverless, and production-ready on Google Cloud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2340</Words>
  <Application>Microsoft Office PowerPoint</Application>
  <PresentationFormat>On-screen Show (16:9)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Google Sans Flex SemiBold</vt:lpstr>
      <vt:lpstr>Google Sans Flex Medium</vt:lpstr>
      <vt:lpstr>Google Sans Flex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Mule, Ravi</cp:lastModifiedBy>
  <cp:revision>1</cp:revision>
  <dcterms:modified xsi:type="dcterms:W3CDTF">2026-10-18T16:40:49Z</dcterms:modified>
</cp:coreProperties>
</file>