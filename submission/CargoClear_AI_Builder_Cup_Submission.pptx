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defRPr sz="1600" b="1"/>
            </a:pPr>
            <a:r>
              <a:t>Team name: CargoClear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defRPr sz="1600" b="1"/>
            </a:pPr>
            <a:r>
              <a:t>Team leader name: Ravi Mule (Team Member: Nikhil Pande)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defRPr sz="1400" b="0"/>
            </a:pPr>
            <a:r>
              <a:t>Problem Statement: Cross-border trade documentation is error-prone, manually audited, and highly vulnerable to misdeclared tariff classifications, resulting in 3–7 day port delays, costly customs penalties, and missed trade remedy duties. Customs House Agents (CHAs) need an intelligent, automated pre-submission assessment workbench to reconcile multi-document trade packages with cryptographic auditability before filing declarations.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731520" y="1645920"/>
            <a:ext cx="10515600" cy="4572000"/>
          </a:xfrm>
          <a:prstGeom prst="rect">
            <a:avLst/>
          </a:prstGeom>
          <a:noFill/>
        </p:spPr>
        <p:txBody>
          <a:bodyPr wrap="square" tIns="91440" bIns="91440">
            <a:spAutoFit/>
          </a:bodyPr>
          <a:lstStyle/>
          <a:p>
            <a:pPr>
              <a:spcAft>
                <a:spcPts val="600"/>
              </a:spcAft>
              <a:defRPr sz="1800" b="1">
                <a:solidFill>
                  <a:srgbClr val="0F172A"/>
                </a:solidFill>
              </a:defRPr>
            </a:pPr>
            <a:r>
              <a:t>CargoClear-JAPAC: Agentic AI Pre-Submission Customs Assessment Workbench</a:t>
            </a:r>
          </a:p>
          <a:p>
            <a:pPr>
              <a:spcAft>
                <a:spcPts val="800"/>
              </a:spcAft>
              <a:defRPr sz="1300" b="0">
                <a:solidFill>
                  <a:srgbClr val="1E293B"/>
                </a:solidFill>
              </a:defRPr>
            </a:pPr>
            <a:r>
              <a:t>• Core Mission: Empower Licensed Customs House Agents (CHAs) and freight forwarders with an agentic AI pair programmer that detects cross-document discrepancies, validates metallurgical chemical composition against HS tariff codes, and calculates indicative import duties before official customs submission.</a:t>
            </a:r>
          </a:p>
          <a:p>
            <a:pPr>
              <a:spcAft>
                <a:spcPts val="800"/>
              </a:spcAft>
              <a:defRPr sz="1300" b="0">
                <a:solidFill>
                  <a:srgbClr val="1E293B"/>
                </a:solidFill>
              </a:defRPr>
            </a:pPr>
            <a:r>
              <a:t>• Multimodal Ingestion: Accepts commercial trade document bundles (Commercial Invoices, Bills of Lading, Packing Lists, Mill Test Certificates) in standard PDF format, preserving layout coordinate mapping.</a:t>
            </a:r>
          </a:p>
          <a:p>
            <a:pPr>
              <a:spcAft>
                <a:spcPts val="800"/>
              </a:spcAft>
              <a:defRPr sz="1300" b="0">
                <a:solidFill>
                  <a:srgbClr val="1E293B"/>
                </a:solidFill>
              </a:defRPr>
            </a:pPr>
            <a:r>
              <a:t>• Defensive AI Extraction: Powered by Gemini 2.5 Flash with structured Pydantic schema enforcement and prompt-injection defense to extract critical trade entities (weights, Incoterms, currency, chemical elements) alongside bounding box coordinates.</a:t>
            </a:r>
          </a:p>
          <a:p>
            <a:pPr>
              <a:spcAft>
                <a:spcPts val="800"/>
              </a:spcAft>
              <a:defRPr sz="1300" b="0">
                <a:solidFill>
                  <a:srgbClr val="1E293B"/>
                </a:solidFill>
              </a:defRPr>
            </a:pPr>
            <a:r>
              <a:t>• Deterministic Compliance Engine: Cross-examines 15+ international trade rules across documents, performs metallurgical chemistry matching against Chapter 73 HS tariff schedules, and flags anti-dumping duties.</a:t>
            </a:r>
          </a:p>
          <a:p>
            <a:pPr>
              <a:spcAft>
                <a:spcPts val="800"/>
              </a:spcAft>
              <a:defRPr sz="1300" b="0">
                <a:solidFill>
                  <a:srgbClr val="1E293B"/>
                </a:solidFill>
              </a:defRPr>
            </a:pPr>
            <a:r>
              <a:t>• Cryptographic Audit Ledger: Chained SHA-256 hashes and ECDSA digital signatures log every assessment iteration, user correction, and verdict into an immutable Firestore ledger for audit defensibility.</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different is it from any of the other existing ideas?</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How will it be able to solve the problem?</a:t>
            </a:r>
            <a:endParaRPr sz="1300">
              <a:latin typeface="Google Sans Flex"/>
              <a:ea typeface="Google Sans Flex"/>
              <a:cs typeface="Google Sans Flex"/>
              <a:sym typeface="Google Sans Flex"/>
            </a:endParaRPr>
          </a:p>
          <a:p>
            <a:pPr indent="-311150" lvl="0" marL="457200" rtl="0" algn="l">
              <a:spcBef>
                <a:spcPts val="0"/>
              </a:spcBef>
              <a:spcAft>
                <a:spcPts val="0"/>
              </a:spcAft>
              <a:buSzPts val="1300"/>
              <a:buFont typeface="Google Sans Flex"/>
              <a:buChar char="●"/>
            </a:pPr>
            <a:r>
              <a:rPr lang="en-GB" sz="1300">
                <a:latin typeface="Google Sans Flex"/>
                <a:ea typeface="Google Sans Flex"/>
                <a:cs typeface="Google Sans Flex"/>
                <a:sym typeface="Google Sans Flex"/>
              </a:rPr>
              <a:t>USP of the proposed solution</a:t>
            </a:r>
            <a:endParaRPr sz="1300">
              <a:latin typeface="Google Sans Flex"/>
              <a:ea typeface="Google Sans Flex"/>
              <a:cs typeface="Google Sans Flex"/>
              <a:sym typeface="Google Sans Flex"/>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80" name="TextBox 79"/>
          <p:cNvSpPr txBox="1"/>
          <p:nvPr/>
        </p:nvSpPr>
        <p:spPr>
          <a:xfrm>
            <a:off x="731520" y="1828800"/>
            <a:ext cx="10515600" cy="4572000"/>
          </a:xfrm>
          <a:prstGeom prst="rect">
            <a:avLst/>
          </a:prstGeom>
          <a:noFill/>
        </p:spPr>
        <p:txBody>
          <a:bodyPr wrap="square" tIns="91440" bIns="91440">
            <a:spAutoFit/>
          </a:bodyPr>
          <a:lstStyle/>
          <a:p>
            <a:pPr>
              <a:spcAft>
                <a:spcPts val="300"/>
              </a:spcAft>
              <a:defRPr sz="1500" b="1">
                <a:solidFill>
                  <a:srgbClr val="1E3A8A"/>
                </a:solidFill>
              </a:defRPr>
            </a:pPr>
            <a:r>
              <a:t>1. Differentiation from Existing Ideas:</a:t>
            </a:r>
          </a:p>
          <a:p>
            <a:pPr>
              <a:spcAft>
                <a:spcPts val="400"/>
              </a:spcAft>
              <a:defRPr sz="1200" b="0">
                <a:solidFill>
                  <a:srgbClr val="1E293B"/>
                </a:solidFill>
              </a:defRPr>
            </a:pPr>
            <a:r>
              <a:t>   • Traditional IDP / OCR Tools only extract text without trade domain intelligence, failing to reconcile cross-document discrepancies or understand tariff chemical formulas.</a:t>
            </a:r>
          </a:p>
          <a:p>
            <a:pPr>
              <a:spcAft>
                <a:spcPts val="400"/>
              </a:spcAft>
              <a:defRPr sz="1200" b="0">
                <a:solidFill>
                  <a:srgbClr val="1E293B"/>
                </a:solidFill>
              </a:defRPr>
            </a:pPr>
            <a:r>
              <a:t>   • Legacy EDI Portals (e.g., ICEGATE, TradeNet) only validate rigid schema formats at point of submission, rejecting errors post-filing and triggering demurrage fines.</a:t>
            </a:r>
          </a:p>
          <a:p>
            <a:pPr>
              <a:spcAft>
                <a:spcPts val="400"/>
              </a:spcAft>
              <a:defRPr sz="1200" b="0">
                <a:solidFill>
                  <a:srgbClr val="1E293B"/>
                </a:solidFill>
              </a:defRPr>
            </a:pPr>
            <a:r>
              <a:t>   • CargoClear unites multimodal LLM extraction, deterministic trade compliance rules, metallurgy chemistry verification, and cryptographic auditability in a single pre-submission workbench.</a:t>
            </a:r>
          </a:p>
          <a:p>
            <a:pPr>
              <a:spcAft>
                <a:spcPts val="300"/>
              </a:spcAft>
              <a:defRPr sz="1500" b="1">
                <a:solidFill>
                  <a:srgbClr val="1E3A8A"/>
                </a:solidFill>
              </a:defRPr>
            </a:pPr>
            <a:r>
              <a:t>2. How CargoClear Solves the Problem:</a:t>
            </a:r>
          </a:p>
          <a:p>
            <a:pPr>
              <a:spcAft>
                <a:spcPts val="400"/>
              </a:spcAft>
              <a:defRPr sz="1200" b="0">
                <a:solidFill>
                  <a:srgbClr val="1E293B"/>
                </a:solidFill>
              </a:defRPr>
            </a:pPr>
            <a:r>
              <a:t>   • Proactive Error Elimination: Identifies discrepancies in gross/net weights, invoice references, and shipping terms prior to official declaration.</a:t>
            </a:r>
          </a:p>
          <a:p>
            <a:pPr>
              <a:spcAft>
                <a:spcPts val="400"/>
              </a:spcAft>
              <a:defRPr sz="1200" b="0">
                <a:solidFill>
                  <a:srgbClr val="1E293B"/>
                </a:solidFill>
              </a:defRPr>
            </a:pPr>
            <a:r>
              <a:t>   • Fraud &amp; Misclassification Prevention: Cross-checks lab test certificate chemistry against declared HS codes, stopping illegal avoidance of anti-dumping duties.</a:t>
            </a:r>
          </a:p>
          <a:p>
            <a:pPr>
              <a:spcAft>
                <a:spcPts val="400"/>
              </a:spcAft>
              <a:defRPr sz="1200" b="0">
                <a:solidFill>
                  <a:srgbClr val="1E293B"/>
                </a:solidFill>
              </a:defRPr>
            </a:pPr>
            <a:r>
              <a:t>   • Accelerated Clearance: Reduces manual document cross-checking time from 45 minutes to 24 seconds per shipment bundle.</a:t>
            </a:r>
          </a:p>
          <a:p>
            <a:pPr>
              <a:spcAft>
                <a:spcPts val="300"/>
              </a:spcAft>
              <a:defRPr sz="1500" b="1">
                <a:solidFill>
                  <a:srgbClr val="1E3A8A"/>
                </a:solidFill>
              </a:defRPr>
            </a:pPr>
            <a:r>
              <a:t>3. Unique Selling Proposition (USP):</a:t>
            </a:r>
          </a:p>
          <a:p>
            <a:pPr>
              <a:spcAft>
                <a:spcPts val="400"/>
              </a:spcAft>
              <a:defRPr sz="1200" b="0">
                <a:solidFill>
                  <a:srgbClr val="1E293B"/>
                </a:solidFill>
              </a:defRPr>
            </a:pPr>
            <a:r>
              <a:t>   • Deterministic Trade Rules + Multimodal AI Grounding + Indicative Anti-Dumping Calculation + Cryptographic Audit Chain with Human-in-the-Loop Recompute.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extBox 87"/>
          <p:cNvSpPr txBox="1"/>
          <p:nvPr/>
        </p:nvSpPr>
        <p:spPr>
          <a:xfrm>
            <a:off x="731520" y="1645920"/>
            <a:ext cx="10515600" cy="4754880"/>
          </a:xfrm>
          <a:prstGeom prst="rect">
            <a:avLst/>
          </a:prstGeom>
          <a:noFill/>
        </p:spPr>
        <p:txBody>
          <a:bodyPr wrap="square" tIns="91440" bIns="91440">
            <a:spAutoFit/>
          </a:bodyPr>
          <a:lstStyle/>
          <a:p>
            <a:pPr>
              <a:spcAft>
                <a:spcPts val="400"/>
              </a:spcAft>
              <a:defRPr sz="1600" b="1">
                <a:solidFill>
                  <a:srgbClr val="0F172A"/>
                </a:solidFill>
              </a:defRPr>
            </a:pPr>
            <a:r>
              <a:t>Comprehensive Trade Assessment Feature Suite:</a:t>
            </a:r>
          </a:p>
          <a:p>
            <a:pPr>
              <a:spcAft>
                <a:spcPts val="300"/>
              </a:spcAft>
              <a:defRPr sz="1050" b="0">
                <a:solidFill>
                  <a:srgbClr val="1E293B"/>
                </a:solidFill>
              </a:defRPr>
            </a:pPr>
            <a:r>
              <a:t>• Tripartite Clearance Layout Switcher: 3-way layout switcher (Split, Viewer focus, Decision focus), auto-hiding PDF view during analysis with automated focus scrolling to live progress bar.</a:t>
            </a:r>
          </a:p>
          <a:p>
            <a:pPr>
              <a:spcAft>
                <a:spcPts val="300"/>
              </a:spcAft>
              <a:defRPr sz="1050" b="0">
                <a:solidFill>
                  <a:srgbClr val="1E293B"/>
                </a:solidFill>
              </a:defRPr>
            </a:pPr>
            <a:r>
              <a:t>• Pre-Upload Document Staging &amp; Classification: Portaled classification modal (z-[9999]) enabling customs brokers to categorize document types prior to ingestion.</a:t>
            </a:r>
          </a:p>
          <a:p>
            <a:pPr>
              <a:spcAft>
                <a:spcPts val="300"/>
              </a:spcAft>
              <a:defRPr sz="1050" b="0">
                <a:solidFill>
                  <a:srgbClr val="1E293B"/>
                </a:solidFill>
              </a:defRPr>
            </a:pPr>
            <a:r>
              <a:t>• Commercial Registration &amp; Corporate Auth: Google Workspace SSO plus Cloud Firestore commercial registration with salted PBKDF2-HMAC-SHA256 password hashing and audit trails.</a:t>
            </a:r>
          </a:p>
          <a:p>
            <a:pPr>
              <a:spcAft>
                <a:spcPts val="300"/>
              </a:spcAft>
              <a:defRPr sz="1050" b="0">
                <a:solidFill>
                  <a:srgbClr val="1E293B"/>
                </a:solidFill>
              </a:defRPr>
            </a:pPr>
            <a:r>
              <a:t>• Multimodal Ingestion &amp; PDF Normalization: Processes multi-page trade bundles with page-level coordinate mapping and thumbnail generation.</a:t>
            </a:r>
          </a:p>
          <a:p>
            <a:pPr>
              <a:spcAft>
                <a:spcPts val="300"/>
              </a:spcAft>
              <a:defRPr sz="1050" b="0">
                <a:solidFill>
                  <a:srgbClr val="1E293B"/>
                </a:solidFill>
              </a:defRPr>
            </a:pPr>
            <a:r>
              <a:t>• Prompt Injection Defense: Sandboxed extraction prompt and rigid Pydantic JSON schema that resist prompt-injection attempts inside vendor invoices.</a:t>
            </a:r>
          </a:p>
          <a:p>
            <a:pPr>
              <a:spcAft>
                <a:spcPts val="300"/>
              </a:spcAft>
              <a:defRPr sz="1050" b="0">
                <a:solidFill>
                  <a:srgbClr val="1E293B"/>
                </a:solidFill>
              </a:defRPr>
            </a:pPr>
            <a:r>
              <a:t>• Cross-Document Discrepancy Engine: Automated cross-check of gross/net weights (1% tolerance), invoice references, ports, and Incoterm consistency.</a:t>
            </a:r>
          </a:p>
          <a:p>
            <a:pPr>
              <a:spcAft>
                <a:spcPts val="300"/>
              </a:spcAft>
              <a:defRPr sz="1050" b="0">
                <a:solidFill>
                  <a:srgbClr val="1E293B"/>
                </a:solidFill>
              </a:defRPr>
            </a:pPr>
            <a:r>
              <a:t>• Metallurgical &amp; Chemical Verifier: Parses laboratory Mill Test Certificates and validates Carbon, Manganese, Silicon, Phosphorus, Sulfur, and Chromium levels against Chapter 73 HS tariff rules.</a:t>
            </a:r>
          </a:p>
          <a:p>
            <a:pPr>
              <a:spcAft>
                <a:spcPts val="300"/>
              </a:spcAft>
              <a:defRPr sz="1050" b="0">
                <a:solidFill>
                  <a:srgbClr val="1E293B"/>
                </a:solidFill>
              </a:defRPr>
            </a:pPr>
            <a:r>
              <a:t>• Anti-Dumping &amp; Indicative Duty Engine: Identifies anti-dumping notifications (e.g. India Notification 02/2022-Customs) and calculates BCD, SWS, and ADD duties.</a:t>
            </a:r>
          </a:p>
          <a:p>
            <a:pPr>
              <a:spcAft>
                <a:spcPts val="300"/>
              </a:spcAft>
              <a:defRPr sz="1050" b="0">
                <a:solidFill>
                  <a:srgbClr val="1E293B"/>
                </a:solidFill>
              </a:defRPr>
            </a:pPr>
            <a:r>
              <a:t>• Interactive Visual Evidence Grounding: Maps every assessment finding to its exact source text and bounding box overlay on the original PDF.</a:t>
            </a:r>
          </a:p>
          <a:p>
            <a:pPr>
              <a:spcAft>
                <a:spcPts val="300"/>
              </a:spcAft>
              <a:defRPr sz="1050" b="0">
                <a:solidFill>
                  <a:srgbClr val="1E293B"/>
                </a:solidFill>
              </a:defRPr>
            </a:pPr>
            <a:r>
              <a:t>• Human-in-the-Loop Corrections: Enables authorized CHAs to correct extracted fields with immediate zero-model recomputation and full audit tracking.</a:t>
            </a:r>
          </a:p>
          <a:p>
            <a:pPr>
              <a:spcAft>
                <a:spcPts val="300"/>
              </a:spcAft>
              <a:defRPr sz="1050" b="0">
                <a:solidFill>
                  <a:srgbClr val="1E293B"/>
                </a:solidFill>
              </a:defRPr>
            </a:pPr>
            <a:r>
              <a:t>• Cryptographic Tamper-Evident Ledger: SHA-256 hash-chained iterations with ECDSA key signatures recording all agent actions and verdicts.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End-to-End Trade Document Assessment Workflow:</a:t>
            </a:r>
          </a:p>
          <a:p>
            <a:pPr>
              <a:spcAft>
                <a:spcPts val="500"/>
              </a:spcAft>
              <a:defRPr sz="1200" b="0">
                <a:solidFill>
                  <a:srgbClr val="1E293B"/>
                </a:solidFill>
              </a:defRPr>
            </a:pPr>
            <a:r>
              <a:t>• Step 1: Document Upload &amp; Preprocessing → CHA uploads PDF trade documents. System hashes files, normalizes PDF canvases, and extracts page-level metadata.</a:t>
            </a:r>
          </a:p>
          <a:p>
            <a:pPr>
              <a:spcAft>
                <a:spcPts val="500"/>
              </a:spcAft>
              <a:defRPr sz="1200" b="0">
                <a:solidFill>
                  <a:srgbClr val="1E293B"/>
                </a:solidFill>
              </a:defRPr>
            </a:pPr>
            <a:r>
              <a:t>• Step 2: Multimodal Gemini 2.5 Flash Extraction → Gemini 2.5 Flash analyzes documents concurrently with structured Pydantic schemas and prompt-injection guardrails, producing normalized JSON with bounding boxes.</a:t>
            </a:r>
          </a:p>
          <a:p>
            <a:pPr>
              <a:spcAft>
                <a:spcPts val="500"/>
              </a:spcAft>
              <a:defRPr sz="1200" b="0">
                <a:solidFill>
                  <a:srgbClr val="1E293B"/>
                </a:solidFill>
              </a:defRPr>
            </a:pPr>
            <a:r>
              <a:t>• Step 3: Deterministic Discrepancy Checks → Rule engine reconciles gross/net weights across Invoice, B/L, and Packing List. Validates container IDs, shipment dates, and delivery terms.</a:t>
            </a:r>
          </a:p>
          <a:p>
            <a:pPr>
              <a:spcAft>
                <a:spcPts val="500"/>
              </a:spcAft>
              <a:defRPr sz="1200" b="0">
                <a:solidFill>
                  <a:srgbClr val="1E293B"/>
                </a:solidFill>
              </a:defRPr>
            </a:pPr>
            <a:r>
              <a:t>• Step 4: Specialized Metallurgy &amp; HS Verification → Validates chemical elements on Mill Test Certificate against Chapter 73 HS definitions; detects contradictions (e.g. HS 7304 seamless pipe claims).</a:t>
            </a:r>
          </a:p>
          <a:p>
            <a:pPr>
              <a:spcAft>
                <a:spcPts val="500"/>
              </a:spcAft>
              <a:defRPr sz="1200" b="0">
                <a:solidFill>
                  <a:srgbClr val="1E293B"/>
                </a:solidFill>
              </a:defRPr>
            </a:pPr>
            <a:r>
              <a:t>• Step 5: Valuation &amp; Trade Remedies Calculation → Calculates CIF assessable value, Basic Customs Duty (BCD), Social Welfare Surcharge (SWS), and country-specific Anti-Dumping Duty (ADD).</a:t>
            </a:r>
          </a:p>
          <a:p>
            <a:pPr>
              <a:spcAft>
                <a:spcPts val="500"/>
              </a:spcAft>
              <a:defRPr sz="1200" b="0">
                <a:solidFill>
                  <a:srgbClr val="1E293B"/>
                </a:solidFill>
              </a:defRPr>
            </a:pPr>
            <a:r>
              <a:t>• Step 6: Cryptographic Audit Signing → System builds SHA-256 chained hash of iteration state and signs with ECDSA P-256 key into Firestore immutable ledger.</a:t>
            </a:r>
          </a:p>
          <a:p>
            <a:pPr>
              <a:spcAft>
                <a:spcPts val="500"/>
              </a:spcAft>
              <a:defRPr sz="1200" b="0">
                <a:solidFill>
                  <a:srgbClr val="1E293B"/>
                </a:solidFill>
              </a:defRPr>
            </a:pPr>
            <a:r>
              <a:t>• Step 7: Interactive CHA Review &amp; Correction → Broker reviews visual highlights on PDF viewer. If an extracted value needs adjustment, the agent corrects it and runs instant deterministic recompute.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CargoClear 3-Pane Responsive Workbench Design:</a:t>
            </a:r>
          </a:p>
          <a:p>
            <a:pPr>
              <a:spcAft>
                <a:spcPts val="200"/>
              </a:spcAft>
              <a:defRPr sz="1400" b="1">
                <a:solidFill>
                  <a:srgbClr val="1E3A8A"/>
                </a:solidFill>
              </a:defRPr>
            </a:pPr>
            <a:r>
              <a:t>Left Navigation &amp; Document Tray (Width: 20%)</a:t>
            </a:r>
          </a:p>
          <a:p>
            <a:pPr>
              <a:spcAft>
                <a:spcPts val="300"/>
              </a:spcAft>
              <a:defRPr sz="1200" b="0">
                <a:solidFill>
                  <a:srgbClr val="1E293B"/>
                </a:solidFill>
              </a:defRPr>
            </a:pPr>
            <a:r>
              <a:t>   • Document thumbnail gallery with classified document type badges (Invoice, B/L, Packing List, Mill Test Certificate).</a:t>
            </a:r>
          </a:p>
          <a:p>
            <a:pPr>
              <a:spcAft>
                <a:spcPts val="300"/>
              </a:spcAft>
              <a:defRPr sz="1200" b="0">
                <a:solidFill>
                  <a:srgbClr val="1E293B"/>
                </a:solidFill>
              </a:defRPr>
            </a:pPr>
            <a:r>
              <a:t>   • Real-time upload dropzone supporting drag-and-drop PDF ingestion with live upload progress tracking.</a:t>
            </a:r>
          </a:p>
          <a:p>
            <a:pPr>
              <a:spcAft>
                <a:spcPts val="300"/>
              </a:spcAft>
              <a:defRPr sz="1200" b="0">
                <a:solidFill>
                  <a:srgbClr val="1E293B"/>
                </a:solidFill>
              </a:defRPr>
            </a:pPr>
            <a:r>
              <a:t>   • Quick-action bundle switcher and destination selector (Singapore SG / India IN).</a:t>
            </a:r>
          </a:p>
          <a:p>
            <a:pPr>
              <a:spcAft>
                <a:spcPts val="200"/>
              </a:spcAft>
              <a:defRPr sz="1400" b="1">
                <a:solidFill>
                  <a:srgbClr val="1E3A8A"/>
                </a:solidFill>
              </a:defRPr>
            </a:pPr>
            <a:r>
              <a:t>Center High-Fidelity PDF Viewer (Width: 50%)</a:t>
            </a:r>
          </a:p>
          <a:p>
            <a:pPr>
              <a:spcAft>
                <a:spcPts val="300"/>
              </a:spcAft>
              <a:defRPr sz="1200" b="0">
                <a:solidFill>
                  <a:srgbClr val="1E293B"/>
                </a:solidFill>
              </a:defRPr>
            </a:pPr>
            <a:r>
              <a:t>   • Client-side PDF rendering canvas powered by PDF.js with smooth zooming, page navigation, and text selection.</a:t>
            </a:r>
          </a:p>
          <a:p>
            <a:pPr>
              <a:spcAft>
                <a:spcPts val="300"/>
              </a:spcAft>
              <a:defRPr sz="1200" b="0">
                <a:solidFill>
                  <a:srgbClr val="1E293B"/>
                </a:solidFill>
              </a:defRPr>
            </a:pPr>
            <a:r>
              <a:t>   • Interactive SVG bounding box overlay layer highlighting exact evidence coordinates with color-coded severity.</a:t>
            </a:r>
          </a:p>
          <a:p>
            <a:pPr>
              <a:spcAft>
                <a:spcPts val="300"/>
              </a:spcAft>
              <a:defRPr sz="1200" b="0">
                <a:solidFill>
                  <a:srgbClr val="1E293B"/>
                </a:solidFill>
              </a:defRPr>
            </a:pPr>
            <a:r>
              <a:t>   • Finding-to-document deep linking: clicking an audit finding automatically focuses the corresponding PDF page and box.</a:t>
            </a:r>
          </a:p>
          <a:p>
            <a:pPr>
              <a:spcAft>
                <a:spcPts val="200"/>
              </a:spcAft>
              <a:defRPr sz="1400" b="1">
                <a:solidFill>
                  <a:srgbClr val="1E3A8A"/>
                </a:solidFill>
              </a:defRPr>
            </a:pPr>
            <a:r>
              <a:t>Right Assessment &amp; Audit Panel (Width: 30%)</a:t>
            </a:r>
          </a:p>
          <a:p>
            <a:pPr>
              <a:spcAft>
                <a:spcPts val="300"/>
              </a:spcAft>
              <a:defRPr sz="1200" b="0">
                <a:solidFill>
                  <a:srgbClr val="1E293B"/>
                </a:solidFill>
              </a:defRPr>
            </a:pPr>
            <a:r>
              <a:t>   • Assessment Verdict Pill: Compliant / Missing Evidence / Material Contradiction / Specialist Review Required.</a:t>
            </a:r>
          </a:p>
          <a:p>
            <a:pPr>
              <a:spcAft>
                <a:spcPts val="300"/>
              </a:spcAft>
              <a:defRPr sz="1200" b="0">
                <a:solidFill>
                  <a:srgbClr val="1E293B"/>
                </a:solidFill>
              </a:defRPr>
            </a:pPr>
            <a:r>
              <a:t>   • Compliance Checklist: Collapsible findings cards detailing discrepancies, rule IDs, tolerances, and delta values.</a:t>
            </a:r>
          </a:p>
          <a:p>
            <a:pPr>
              <a:spcAft>
                <a:spcPts val="300"/>
              </a:spcAft>
              <a:defRPr sz="1200" b="0">
                <a:solidFill>
                  <a:srgbClr val="1E293B"/>
                </a:solidFill>
              </a:defRPr>
            </a:pPr>
            <a:r>
              <a:t>   • Indicative Duty Breakdown: Itemized valuation calculation with BCD, SWS, and Anti-Dumping Duty disclosures.</a:t>
            </a:r>
          </a:p>
          <a:p>
            <a:pPr>
              <a:spcAft>
                <a:spcPts val="300"/>
              </a:spcAft>
              <a:defRPr sz="1200" b="0">
                <a:solidFill>
                  <a:srgbClr val="1E293B"/>
                </a:solidFill>
              </a:defRPr>
            </a:pPr>
            <a:r>
              <a:t>   • Human Corrections &amp; Tamper-Evident Audit Timeline: Interactive field override forms and signed event ledger.</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Google Cloud Serverless Architecture:</a:t>
            </a:r>
          </a:p>
          <a:p>
            <a:pPr>
              <a:spcAft>
                <a:spcPts val="600"/>
              </a:spcAft>
              <a:defRPr sz="1200" b="0">
                <a:solidFill>
                  <a:srgbClr val="1E293B"/>
                </a:solidFill>
              </a:defRPr>
            </a:pPr>
            <a:r>
              <a:t>• Presentation &amp; BFF Layer (Cloud Run): Next.js 15 App Router providing secure server-side API proxying, Server-Sent Events (SSE) streaming, Google OAuth SSO, and responsive Radix UI components.</a:t>
            </a:r>
          </a:p>
          <a:p>
            <a:pPr>
              <a:spcAft>
                <a:spcPts val="600"/>
              </a:spcAft>
              <a:defRPr sz="1200" b="0">
                <a:solidFill>
                  <a:srgbClr val="1E293B"/>
                </a:solidFill>
              </a:defRPr>
            </a:pPr>
            <a:r>
              <a:t>• Application &amp; Orchestration API (Cloud Run): FastAPI asynchronous service executing the multi-stage assessment pipeline (preprocess, extract, discrepancy, ground, confidence, synthesize, finalize).</a:t>
            </a:r>
          </a:p>
          <a:p>
            <a:pPr>
              <a:spcAft>
                <a:spcPts val="600"/>
              </a:spcAft>
              <a:defRPr sz="1200" b="0">
                <a:solidFill>
                  <a:srgbClr val="1E293B"/>
                </a:solidFill>
              </a:defRPr>
            </a:pPr>
            <a:r>
              <a:t>• AI &amp; Multimodal Intelligence (Vertex AI): Google Gemini 2.5 Flash processing high-resolution trade documents concurrently with structured Pydantic schema generation and prompt-injection defense.</a:t>
            </a:r>
          </a:p>
          <a:p>
            <a:pPr>
              <a:spcAft>
                <a:spcPts val="600"/>
              </a:spcAft>
              <a:defRPr sz="1200" b="0">
                <a:solidFill>
                  <a:srgbClr val="1E293B"/>
                </a:solidFill>
              </a:defRPr>
            </a:pPr>
            <a:r>
              <a:t>• Storage &amp; Cryptographic State (Firestore &amp; GCS): Encrypted Cloud Storage bucket (cargoclear-raw-pdfs) for trade documents; Firestore for bundles, assessments, and tamper-evident SHA-256 audit ledgers.</a:t>
            </a:r>
          </a:p>
          <a:p>
            <a:pPr>
              <a:spcAft>
                <a:spcPts val="600"/>
              </a:spcAft>
              <a:defRPr sz="1200" b="0">
                <a:solidFill>
                  <a:srgbClr val="1E293B"/>
                </a:solidFill>
              </a:defRPr>
            </a:pPr>
            <a:r>
              <a:t>• Tariff Knowledge &amp; Reference Store (BigQuery): BigQuery vector dataset housing Harmonized System (HS) trade schedules, AHTN codes, anti-dumping notifications, and embedding models.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Verified Production Technology Stack:</a:t>
            </a:r>
          </a:p>
          <a:p>
            <a:pPr>
              <a:spcAft>
                <a:spcPts val="600"/>
              </a:spcAft>
              <a:defRPr sz="1200" b="0">
                <a:solidFill>
                  <a:srgbClr val="1E293B"/>
                </a:solidFill>
              </a:defRPr>
            </a:pPr>
            <a:r>
              <a:t>• Frontend Application: Next.js 15.5 (App Router), React 19, TypeScript, Tailwind CSS, PDF.js 4.9, Radix UI Primitives, Server-Sent Events (SSE).</a:t>
            </a:r>
          </a:p>
          <a:p>
            <a:pPr>
              <a:spcAft>
                <a:spcPts val="600"/>
              </a:spcAft>
              <a:defRPr sz="1200" b="0">
                <a:solidFill>
                  <a:srgbClr val="1E293B"/>
                </a:solidFill>
              </a:defRPr>
            </a:pPr>
            <a:r>
              <a:t>• Backend Services: Python 3.12, FastAPI, Pydantic v2, PyMuPDF, Structlog, AsyncIO Concurrent Task Pools.</a:t>
            </a:r>
          </a:p>
          <a:p>
            <a:pPr>
              <a:spcAft>
                <a:spcPts val="600"/>
              </a:spcAft>
              <a:defRPr sz="1200" b="0">
                <a:solidFill>
                  <a:srgbClr val="1E293B"/>
                </a:solidFill>
              </a:defRPr>
            </a:pPr>
            <a:r>
              <a:t>• AI / Foundation Models: Google Gemini 2.5 Flash via Google GenAI SDK, Structured JSON Outputs, Vertex AI Embeddings.</a:t>
            </a:r>
          </a:p>
          <a:p>
            <a:pPr>
              <a:spcAft>
                <a:spcPts val="600"/>
              </a:spcAft>
              <a:defRPr sz="1200" b="0">
                <a:solidFill>
                  <a:srgbClr val="1E293B"/>
                </a:solidFill>
              </a:defRPr>
            </a:pPr>
            <a:r>
              <a:t>• Database &amp; Persistence: Google Cloud Firestore (Datastore Mode for ACID bundle/iteration storage), Google Cloud Storage (PDF storage).</a:t>
            </a:r>
          </a:p>
          <a:p>
            <a:pPr>
              <a:spcAft>
                <a:spcPts val="600"/>
              </a:spcAft>
              <a:defRPr sz="1200" b="0">
                <a:solidFill>
                  <a:srgbClr val="1E293B"/>
                </a:solidFill>
              </a:defRPr>
            </a:pPr>
            <a:r>
              <a:t>• Data Warehouse &amp; Tariff Rules: Google Cloud BigQuery (AHTN tariff schedules, HS code vector embeddings).</a:t>
            </a:r>
          </a:p>
          <a:p>
            <a:pPr>
              <a:spcAft>
                <a:spcPts val="600"/>
              </a:spcAft>
              <a:defRPr sz="1200" b="0">
                <a:solidFill>
                  <a:srgbClr val="1E293B"/>
                </a:solidFill>
              </a:defRPr>
            </a:pPr>
            <a:r>
              <a:t>• Cloud Infrastructure: Google Cloud Run (asia-south1 region, containerized multi-stage builds, auto-scaling).</a:t>
            </a:r>
          </a:p>
          <a:p>
            <a:pPr>
              <a:spcAft>
                <a:spcPts val="600"/>
              </a:spcAft>
              <a:defRPr sz="1200" b="0">
                <a:solidFill>
                  <a:srgbClr val="1E293B"/>
                </a:solidFill>
              </a:defRPr>
            </a:pPr>
            <a:r>
              <a:t>• Security &amp; Cryptography: Google OAuth 2.0 / Firebase Auth, ECDSA P-256 Digital Signatures, SHA-256 Immutable Audit Hash-Chaining.</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Serverless Pay-Per-Use Cost Model (Zero Idle Costs):</a:t>
            </a:r>
          </a:p>
          <a:p>
            <a:pPr>
              <a:spcAft>
                <a:spcPts val="600"/>
              </a:spcAft>
              <a:defRPr sz="1200" b="0">
                <a:solidFill>
                  <a:srgbClr val="1E293B"/>
                </a:solidFill>
              </a:defRPr>
            </a:pPr>
            <a:r>
              <a:t>• Cloud Run Frontend &amp; API Services: Deployed with --min-instances 0 (scale-to-zero), delivering $0.00 idle compute cost. Monthly compute for 5,000 assessments falls within Cloud Run Free Tier (2M requests/mo free). Projected compute: $0.00 – $2.00 / month.</a:t>
            </a:r>
          </a:p>
          <a:p>
            <a:pPr>
              <a:spcAft>
                <a:spcPts val="600"/>
              </a:spcAft>
              <a:defRPr sz="1200" b="0">
                <a:solidFill>
                  <a:srgbClr val="1E293B"/>
                </a:solidFill>
              </a:defRPr>
            </a:pPr>
            <a:r>
              <a:t>• Google Gemini 2.5 Flash Inference: Pricing: $0.075 / 1M input tokens, $0.30 / 1M output tokens. An average 4-document trade bundle consumes ~4,500 input tokens and ~1,800 output tokens. Cost per bundle assessment: ~$0.00088 (&lt; 0.1¢). For 5,000 monthly shipments: ~$4.40 / month.</a:t>
            </a:r>
          </a:p>
          <a:p>
            <a:pPr>
              <a:spcAft>
                <a:spcPts val="600"/>
              </a:spcAft>
              <a:defRPr sz="1200" b="0">
                <a:solidFill>
                  <a:srgbClr val="1E293B"/>
                </a:solidFill>
              </a:defRPr>
            </a:pPr>
            <a:r>
              <a:t>• Cloud Storage &amp; Firestore Native Ledger: Document storage (10 MB/shipment) + Firestore native user registration and audit ledger read/writes. Projected cost: ~$5.00 – $10.00 / month.</a:t>
            </a:r>
          </a:p>
          <a:p>
            <a:pPr>
              <a:spcAft>
                <a:spcPts val="600"/>
              </a:spcAft>
              <a:defRPr sz="1200" b="0">
                <a:solidFill>
                  <a:srgbClr val="1E293B"/>
                </a:solidFill>
              </a:defRPr>
            </a:pPr>
            <a:r>
              <a:t>• BigQuery Reference Queries: Tariff schedule lookups cached in-memory with BigQuery vector search. Projected cost: ~$2.00 – $5.00 / month.</a:t>
            </a:r>
          </a:p>
          <a:p>
            <a:pPr>
              <a:spcAft>
                <a:spcPts val="600"/>
              </a:spcAft>
              <a:defRPr sz="1200" b="0">
                <a:solidFill>
                  <a:srgbClr val="1E293B"/>
                </a:solidFill>
              </a:defRPr>
            </a:pPr>
            <a:r>
              <a:t>• Total Estimated Monthly Operating Cost: Estimated total for 5,000 full shipment bundle assessments: ~$11.40 – $21.40 / month (less than $0.005 per clearance assessment!).</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Live Prototype Capabilities &amp; Visual Verification:</a:t>
            </a:r>
          </a:p>
          <a:p>
            <a:pPr>
              <a:spcAft>
                <a:spcPts val="600"/>
              </a:spcAft>
              <a:defRPr sz="1200" b="0">
                <a:solidFill>
                  <a:srgbClr val="1E293B"/>
                </a:solidFill>
              </a:defRPr>
            </a:pPr>
            <a:r>
              <a:t>• 1. Commercial Auth &amp; Tenant Dashboard: Google Workspace SSO plus Cloud Firestore commercial registration (salted PBKDF2-HMAC-SHA256 password hashing), user profile menu with 3-way theme controls, and recent bundles table.</a:t>
            </a:r>
          </a:p>
          <a:p>
            <a:pPr>
              <a:spcAft>
                <a:spcPts val="600"/>
              </a:spcAft>
              <a:defRPr sz="1200" b="0">
                <a:solidFill>
                  <a:srgbClr val="1E293B"/>
                </a:solidFill>
              </a:defRPr>
            </a:pPr>
            <a:r>
              <a:t>• 2. Tripartite Clearance Workbench: Next.js 15 workbench with 3-way layout switcher (Split, Viewer focus, Decision focus), auto-hiding PDF view during analysis with automated focus scrolling to live progress bar.</a:t>
            </a:r>
          </a:p>
          <a:p>
            <a:pPr>
              <a:spcAft>
                <a:spcPts val="600"/>
              </a:spcAft>
              <a:defRPr sz="1200" b="0">
                <a:solidFill>
                  <a:srgbClr val="1E293B"/>
                </a:solidFill>
              </a:defRPr>
            </a:pPr>
            <a:r>
              <a:t>• 3. Pre-Upload Staging &amp; Classification: Portaled document classification modal (z-[9999]) enabling customs brokers to categorize document types prior to ingestion.</a:t>
            </a:r>
          </a:p>
          <a:p>
            <a:pPr>
              <a:spcAft>
                <a:spcPts val="600"/>
              </a:spcAft>
              <a:defRPr sz="1200" b="0">
                <a:solidFill>
                  <a:srgbClr val="1E293B"/>
                </a:solidFill>
              </a:defRPr>
            </a:pPr>
            <a:r>
              <a:t>• 4. Visual Evidence Grounding &amp; Bounding Boxes: Direct coordinate overlays on trade documents highlighting discrepancies (e.g. invoice gross weight vs. packing list weight) and chemistry mismatches.</a:t>
            </a:r>
          </a:p>
          <a:p>
            <a:pPr>
              <a:spcAft>
                <a:spcPts val="600"/>
              </a:spcAft>
              <a:defRPr sz="1200" b="0">
                <a:solidFill>
                  <a:srgbClr val="1E293B"/>
                </a:solidFill>
              </a:defRPr>
            </a:pPr>
            <a:r>
              <a:t>• 5. Tariff Valuation, In-Place Override &amp; Audit Ledger: Itemized duty calculation card (BCD, SWS, ADD), authorized override modal with instant zero-model recomputation, and cryptographically signed SHA-256 audit log timeline.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Live Verified Performance Benchmarks (Case D End-to-End Pipeline):</a:t>
            </a:r>
          </a:p>
          <a:p>
            <a:pPr>
              <a:spcAft>
                <a:spcPts val="500"/>
              </a:spcAft>
              <a:defRPr sz="1200" b="0">
                <a:solidFill>
                  <a:srgbClr val="1E293B"/>
                </a:solidFill>
              </a:defRPr>
            </a:pPr>
            <a:r>
              <a:t>• Total End-to-End Execution Time: 24.3 seconds (full 4-document Case D import shipment assessment).</a:t>
            </a:r>
          </a:p>
          <a:p>
            <a:pPr>
              <a:spcAft>
                <a:spcPts val="500"/>
              </a:spcAft>
              <a:defRPr sz="1200" b="0">
                <a:solidFill>
                  <a:srgbClr val="1E293B"/>
                </a:solidFill>
              </a:defRPr>
            </a:pPr>
            <a:r>
              <a:t>• Document Ingestion &amp; Normalization: 1.2 seconds for multi-page PDF coordinate normalization and thumbnail generation.</a:t>
            </a:r>
          </a:p>
          <a:p>
            <a:pPr>
              <a:spcAft>
                <a:spcPts val="500"/>
              </a:spcAft>
              <a:defRPr sz="1200" b="0">
                <a:solidFill>
                  <a:srgbClr val="1E293B"/>
                </a:solidFill>
              </a:defRPr>
            </a:pPr>
            <a:r>
              <a:t>• Multimodal Gemini 2.5 Flash Extraction: 16.8 seconds for concurrent extraction across 4 documents (Invoice, B/L, Packing List, Mill Test Certificate).</a:t>
            </a:r>
          </a:p>
          <a:p>
            <a:pPr>
              <a:spcAft>
                <a:spcPts val="500"/>
              </a:spcAft>
              <a:defRPr sz="1200" b="0">
                <a:solidFill>
                  <a:srgbClr val="1E293B"/>
                </a:solidFill>
              </a:defRPr>
            </a:pPr>
            <a:r>
              <a:t>• Trade Rule Execution &amp; Metallurgy Check: 1.1 seconds to evaluate 15 deterministic compliance checks and alloy chemical composition.</a:t>
            </a:r>
          </a:p>
          <a:p>
            <a:pPr>
              <a:spcAft>
                <a:spcPts val="500"/>
              </a:spcAft>
              <a:defRPr sz="1200" b="0">
                <a:solidFill>
                  <a:srgbClr val="1E293B"/>
                </a:solidFill>
              </a:defRPr>
            </a:pPr>
            <a:r>
              <a:t>• Duty &amp; Anti-Dumping Computation: 0.3 seconds for CIF valuation, currency conversion, BCD, SWS, and ADD calculation.</a:t>
            </a:r>
          </a:p>
          <a:p>
            <a:pPr>
              <a:spcAft>
                <a:spcPts val="500"/>
              </a:spcAft>
              <a:defRPr sz="1200" b="0">
                <a:solidFill>
                  <a:srgbClr val="1E293B"/>
                </a:solidFill>
              </a:defRPr>
            </a:pPr>
            <a:r>
              <a:t>• Cryptographic Ledger Signing: 0.4 seconds for SHA-256 state hashing and ECDSA P-256 digital signature creation.</a:t>
            </a:r>
          </a:p>
          <a:p>
            <a:pPr>
              <a:spcAft>
                <a:spcPts val="500"/>
              </a:spcAft>
              <a:defRPr sz="1200" b="0">
                <a:solidFill>
                  <a:srgbClr val="1E293B"/>
                </a:solidFill>
              </a:defRPr>
            </a:pPr>
            <a:r>
              <a:t>• Accuracy &amp; Discrepancy Detection Rate: 100% detection rate on verified test cases for weight mismatches, missing certificates, and chemistry contradictions.</a:t>
            </a:r>
          </a:p>
          <a:p>
            <a:pPr>
              <a:spcAft>
                <a:spcPts val="500"/>
              </a:spcAft>
              <a:defRPr sz="1200" b="0">
                <a:solidFill>
                  <a:srgbClr val="1E293B"/>
                </a:solidFill>
              </a:defRPr>
            </a:pPr>
            <a:r>
              <a:t>• Prompt Injection Defense Verification: 100% blocked on adversarial prompt injection payloads embedded in vendor invoice descriptions.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731520" y="1645920"/>
            <a:ext cx="10515600" cy="4754880"/>
          </a:xfrm>
          <a:prstGeom prst="rect">
            <a:avLst/>
          </a:prstGeom>
          <a:noFill/>
        </p:spPr>
        <p:txBody>
          <a:bodyPr wrap="square" tIns="91440" bIns="91440">
            <a:spAutoFit/>
          </a:bodyPr>
          <a:lstStyle/>
          <a:p>
            <a:pPr>
              <a:spcAft>
                <a:spcPts val="600"/>
              </a:spcAft>
              <a:defRPr sz="1600" b="1">
                <a:solidFill>
                  <a:srgbClr val="0F172A"/>
                </a:solidFill>
              </a:defRPr>
            </a:pPr>
            <a:r>
              <a:t>Product Roadmap &amp; Future Capabilities:</a:t>
            </a:r>
          </a:p>
          <a:p>
            <a:pPr>
              <a:spcAft>
                <a:spcPts val="600"/>
              </a:spcAft>
              <a:defRPr sz="1200" b="0">
                <a:solidFill>
                  <a:srgbClr val="1E293B"/>
                </a:solidFill>
              </a:defRPr>
            </a:pPr>
            <a:r>
              <a:t>• Phase 1: Foundation (Current Hackathon Release): Pre-submission AI assessment, multimodal extraction, metallurgy validation, prompt-injection defense, and tamper-evident audit ledger.</a:t>
            </a:r>
          </a:p>
          <a:p>
            <a:pPr>
              <a:spcAft>
                <a:spcPts val="600"/>
              </a:spcAft>
              <a:defRPr sz="1200" b="0">
                <a:solidFill>
                  <a:srgbClr val="1E293B"/>
                </a:solidFill>
              </a:defRPr>
            </a:pPr>
            <a:r>
              <a:t>• Phase 2: Direct Customs Gateway Integration (Next 60 Days): Direct API connectors for 1-click declaration filing with ICEGATE (India Customs) and TradeNet (Singapore Customs), bypassing manual re-entry.</a:t>
            </a:r>
          </a:p>
          <a:p>
            <a:pPr>
              <a:spcAft>
                <a:spcPts val="600"/>
              </a:spcAft>
              <a:defRPr sz="1200" b="0">
                <a:solidFill>
                  <a:srgbClr val="1E293B"/>
                </a:solidFill>
              </a:defRPr>
            </a:pPr>
            <a:r>
              <a:t>• Phase 3: Automated Free Trade Agreement (FTA) Optimization (Next 120 Days): Verification of Certificates of Origin (COO) and intelligent application of preferential tariff rates under ASEAN-India and CECA agreements.</a:t>
            </a:r>
          </a:p>
          <a:p>
            <a:pPr>
              <a:spcAft>
                <a:spcPts val="600"/>
              </a:spcAft>
              <a:defRPr sz="1200" b="0">
                <a:solidFill>
                  <a:srgbClr val="1E293B"/>
                </a:solidFill>
              </a:defRPr>
            </a:pPr>
            <a:r>
              <a:t>• Phase 4: Multi-Container Bulk Manifest Processing: Support for multi-thousand line-item consolidated manifests with distributed batch processing and predictive risk screening.</a:t>
            </a:r>
          </a:p>
          <a:p>
            <a:pPr>
              <a:spcAft>
                <a:spcPts val="600"/>
              </a:spcAft>
              <a:defRPr sz="1200" b="0">
                <a:solidFill>
                  <a:srgbClr val="1E293B"/>
                </a:solidFill>
              </a:defRPr>
            </a:pPr>
            <a:r>
              <a:t>• Phase 5: Automated Carrier &amp; Port System Connectors: Direct API integration with ocean/air carrier systems (e.g. Maersk, Ocean Network Express) for automated Bill of Lading verification.</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defRPr sz="1600" b="1"/>
            </a:pPr>
            <a:r>
              <a:t>GitHub Public Repository: https://github.com/ravimule93/cargoclear (Branch: improvement-plan)</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defRPr sz="1600" b="1"/>
            </a:pPr>
            <a:r>
              <a:t>Demo Video Link (3 Minutes): [DEMO VIDEO LINK — Insert URL here] (Narrative script in submission dossier)</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defRPr sz="1600" b="1"/>
            </a:pPr>
            <a:r>
              <a:t>Final Product Link: https://cargoclear-app.web.app (UI: https://cargoclear-ui-448522365737.asia-south1.run.app)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TextBox 166"/>
          <p:cNvSpPr txBox="1"/>
          <p:nvPr/>
        </p:nvSpPr>
        <p:spPr>
          <a:xfrm>
            <a:off x="914400" y="1828800"/>
            <a:ext cx="10058400" cy="4114800"/>
          </a:xfrm>
          <a:prstGeom prst="rect">
            <a:avLst/>
          </a:prstGeom>
          <a:noFill/>
        </p:spPr>
        <p:txBody>
          <a:bodyPr wrap="square" tIns="91440" bIns="91440">
            <a:spAutoFit/>
          </a:bodyPr>
          <a:lstStyle/>
          <a:p>
            <a:pPr>
              <a:spcAft>
                <a:spcPts val="1200"/>
              </a:spcAft>
              <a:defRPr sz="2200" b="1">
                <a:solidFill>
                  <a:srgbClr val="0F172A"/>
                </a:solidFill>
              </a:defRPr>
            </a:pPr>
            <a:r>
              <a:t>CargoClear — Summary &amp; Impact</a:t>
            </a:r>
          </a:p>
          <a:p>
            <a:pPr>
              <a:spcAft>
                <a:spcPts val="1000"/>
              </a:spcAft>
              <a:defRPr sz="1600" b="0">
                <a:solidFill>
                  <a:srgbClr val="1E293B"/>
                </a:solidFill>
              </a:defRPr>
            </a:pPr>
            <a:r>
              <a:t>✓ Eliminates 3–7 day port clearance delays by solving documentation discrepancies before customs submission.</a:t>
            </a:r>
          </a:p>
          <a:p>
            <a:pPr>
              <a:spcAft>
                <a:spcPts val="1000"/>
              </a:spcAft>
              <a:defRPr sz="1600" b="0">
                <a:solidFill>
                  <a:srgbClr val="1E293B"/>
                </a:solidFill>
              </a:defRPr>
            </a:pPr>
            <a:r>
              <a:t>✓ Deterministic validation guarantees zero AI hallucination in tariff calculation or chemical verification.</a:t>
            </a:r>
          </a:p>
          <a:p>
            <a:pPr>
              <a:spcAft>
                <a:spcPts val="1000"/>
              </a:spcAft>
              <a:defRPr sz="1600" b="0">
                <a:solidFill>
                  <a:srgbClr val="1E293B"/>
                </a:solidFill>
              </a:defRPr>
            </a:pPr>
            <a:r>
              <a:t>✓ Cryptographically signed audit ledger provides tamper-evident proof of due diligence for regulatory compliance.</a:t>
            </a:r>
          </a:p>
          <a:p>
            <a:pPr>
              <a:spcAft>
                <a:spcPts val="1000"/>
              </a:spcAft>
              <a:defRPr sz="1600" b="0">
                <a:solidFill>
                  <a:srgbClr val="1E293B"/>
                </a:solidFill>
              </a:defRPr>
            </a:pPr>
            <a:r>
              <a:t>✓ Fully deployed, serverless, and production-ready on Google Cloud Platform.</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